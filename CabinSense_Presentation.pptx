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D4B0"/>
                </a:solidFill>
              </a:rPr>
              <a:t>CabinSense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99AA"/>
                </a:solidFill>
              </a:rPr>
              <a:t>In-Cabin Disturbance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2E8F0"/>
                </a:solidFill>
              </a:rPr>
              <a:t>A real-time multi-modal AI platform that detects micro-distractions,
fuses them into a Cognitive Load score, and delivers
confirm-first cabin mitigations.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572000"/>
            <a:ext cx="2560320" cy="347472"/>
          </a:xfrm>
          <a:prstGeom prst="rect">
            <a:avLst/>
          </a:prstGeom>
          <a:solidFill>
            <a:srgbClr val="111827"/>
          </a:solidFill>
          <a:ln w="10160">
            <a:solidFill>
              <a:srgbClr val="00D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00D4B0"/>
                </a:solidFill>
              </a:rPr>
              <a:t>&lt; 1 ms Fusion Latency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4572000"/>
            <a:ext cx="2560320" cy="347472"/>
          </a:xfrm>
          <a:prstGeom prst="rect">
            <a:avLst/>
          </a:prstGeom>
          <a:solidFill>
            <a:srgbClr val="111827"/>
          </a:solidFill>
          <a:ln w="1016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63B3ED"/>
                </a:solidFill>
              </a:rPr>
              <a:t>Fully Offline · No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4572000"/>
            <a:ext cx="2560320" cy="347472"/>
          </a:xfrm>
          <a:prstGeom prst="rect">
            <a:avLst/>
          </a:prstGeom>
          <a:solidFill>
            <a:srgbClr val="111827"/>
          </a:solidFill>
          <a:ln w="10160"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6AD55"/>
                </a:solidFill>
              </a:rPr>
              <a:t>SDV-Ready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9006840" y="4572000"/>
            <a:ext cx="2560320" cy="347472"/>
          </a:xfrm>
          <a:prstGeom prst="rect">
            <a:avLst/>
          </a:prstGeom>
          <a:solidFill>
            <a:srgbClr val="111827"/>
          </a:solidFill>
          <a:ln w="10160">
            <a:solidFill>
              <a:srgbClr val="889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899AA"/>
                </a:solidFill>
              </a:rPr>
              <a:t>Hackathon Build · 2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093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99AA"/>
                </a:solidFill>
              </a:rPr>
              <a:t>github.com/PrashantKramadhari/in-cabin-hackthon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B0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E8F0"/>
                </a:solidFill>
              </a:rPr>
              <a:t>Drivers Face Continuous, Unmonitored Micro-Distractions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3749039" cy="50749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27048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C8181"/>
                </a:solidFill>
              </a:rPr>
              <a:t>CRITICAL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64792"/>
            <a:ext cx="3520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</a:rPr>
              <a:t>→  No infant / pet welfare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75104"/>
            <a:ext cx="3520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</a:rPr>
              <a:t>→  No object hazard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85416"/>
            <a:ext cx="3520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</a:rPr>
              <a:t>→  No cognitive load awareness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95728"/>
            <a:ext cx="3520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</a:rPr>
              <a:t>→  Cabin is the blind spot of modern ADAS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3749039" cy="50749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527048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6AD55"/>
                </a:solidFill>
              </a:rPr>
              <a:t>5 REAL SCENARIOS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764792"/>
            <a:ext cx="3520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</a:rPr>
              <a:t>→  Baby crying while driving (distraction)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975104"/>
            <a:ext cx="3520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</a:rPr>
              <a:t>→  Child / pet left behind (safety)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185416"/>
            <a:ext cx="3520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</a:rPr>
              <a:t>→  Unsecured objects before pothole (hazard)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395728"/>
            <a:ext cx="3520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</a:rPr>
              <a:t>→  Driver fatigue or stress (cognitive load)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606040"/>
            <a:ext cx="3520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</a:rPr>
              <a:t>→  Auto cabin changes without consent (UX)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417320"/>
            <a:ext cx="3749039" cy="50749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527048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B0"/>
                </a:solidFill>
              </a:rPr>
              <a:t>OUR 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764792"/>
            <a:ext cx="3520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</a:rPr>
              <a:t>→  These are NOT 5 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975104"/>
            <a:ext cx="3520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</a:rPr>
              <a:t>→  They are 5 use cases on ONE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185416"/>
            <a:ext cx="3520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</a:rPr>
              <a:t>→  sense → detect → fuse → adapt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395728"/>
            <a:ext cx="3520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</a:rPr>
              <a:t>→  One scoring engine for all scenarios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606040"/>
            <a:ext cx="3520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</a:rPr>
              <a:t>→  Scoring on Innovation, Safety, Feasibility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B0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E8F0"/>
                </a:solidFill>
              </a:rPr>
              <a:t>Edge-Node + Async Bus + Decision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2926080" cy="51206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4813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B0"/>
                </a:solidFill>
              </a:rPr>
              <a:t>SENSING 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719072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→  Radar (mmWave) — occupancy, HR, breathing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929384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→  Microphone — BabyNet CNN + AST fallback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139696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→  Camera — Qwen2-VL, MediaPipe, YOLOv8n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350008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→  IMU / Vibration — road quality, pothole ahead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560320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→  Vehicle CAN — speed, visibility, GPS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371600"/>
            <a:ext cx="5303520" cy="5120640"/>
          </a:xfrm>
          <a:prstGeom prst="rect">
            <a:avLst/>
          </a:prstGeom>
          <a:solidFill>
            <a:srgbClr val="001A14"/>
          </a:solidFill>
          <a:ln w="19050">
            <a:solidFill>
              <a:srgbClr val="00D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5087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B0"/>
                </a:solidFill>
              </a:rPr>
              <a:t>FUSION ENGINE (CORE)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920240"/>
            <a:ext cx="484632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1993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B0"/>
                </a:solidFill>
              </a:rPr>
              <a:t>Async Pub/Sub Bus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2402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</a:rPr>
              <a:t>bus.py · bounded queue · &lt;1ms latency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261518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B0"/>
                </a:solidFill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2834640"/>
            <a:ext cx="484632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29077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B3ED"/>
                </a:solidFill>
              </a:rPr>
              <a:t>World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154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</a:rPr>
              <a:t>world.py · shared ground-truth cabin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352958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3B3ED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3749039"/>
            <a:ext cx="484632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4760" y="3822191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6AD55"/>
                </a:solidFill>
              </a:rPr>
              <a:t>Fusion +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40690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</a:rPr>
              <a:t>fusion.py · 10Hz · Cognitive Load → Mitigations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4443983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6AD55"/>
                </a:solidFill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4846320"/>
            <a:ext cx="484632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889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60" y="49194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99AA"/>
                </a:solidFill>
              </a:rPr>
              <a:t>WebSocket /ws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516635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</a:rPr>
              <a:t>JSON state pushed to HMI at 10Hz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1371600"/>
            <a:ext cx="2926080" cy="51206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14813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B3ED"/>
                </a:solidFill>
              </a:rPr>
              <a:t>HMI / FEEDBACK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1719072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→  React Cabin HMI (zero-build)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1929384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→  Circular Cognitive Load gauge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2139696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→  Mitigation cards (Apply / Dismiss)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2350008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→  ANC / Volume / AC / Lighting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560320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→  Confirm-First — nothing auto-acts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B0"/>
                </a:solidFill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3B3ED"/>
                </a:solidFill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2926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B0"/>
                </a:solidFill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926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3B3ED"/>
                </a:solidFill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0" y="3840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B0"/>
                </a:solidFill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3840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3B3ED"/>
                </a:solidFill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4663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B0"/>
                </a:solidFill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4663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3B3ED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B0"/>
                </a:solidFill>
              </a:rPr>
              <a:t>FUSION ENGINE ·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2E8F0"/>
                </a:solidFill>
              </a:rPr>
              <a:t>Cognitive Load Score — Multi-Modal Weighted Accumulator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25880"/>
            <a:ext cx="6400800" cy="5212080"/>
          </a:xfrm>
          <a:prstGeom prst="rect">
            <a:avLst/>
          </a:prstGeom>
          <a:solidFill>
            <a:srgbClr val="00120E"/>
          </a:solidFill>
          <a:ln w="12700">
            <a:solidFill>
              <a:srgbClr val="00D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B0"/>
                </a:solidFill>
              </a:rPr>
              <a:t>COGNITIVE LOAD FORMULA  (fusion.py)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719072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── Driver vitals (Radar micro-Doppler) ──────────────────────────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906524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B0"/>
                </a:solidFill>
              </a:rPr>
              <a:t>if HR &gt; 95:          CL += min(30, (HR−95) × 1.5)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2093976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B0"/>
                </a:solidFill>
              </a:rPr>
              <a:t>if RESP &gt; 20:        CL += min(15, (RESP−20) × 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281428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B0"/>
                </a:solidFill>
              </a:rPr>
              <a:t>if HR &lt; 60:          CL += 12       # low arousal / fatigue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468880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── Driver emotion (world state / Qwen vision) ──────────────────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656332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2E8F0"/>
                </a:solidFill>
              </a:rPr>
              <a:t>if stressed:         CL += 10       if tired:  CL +=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843784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── Audio (BabyNet fast-path → AST fallback) ────────────────────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031236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2E8F0"/>
                </a:solidFill>
              </a:rPr>
              <a:t>if crying | animal:  CL += 25       if shouting: CL +=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218688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2E8F0"/>
                </a:solidFill>
              </a:rPr>
              <a:t>if rattle:           CL +=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3406140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── Child / pet (world.seats — no radar lag) ────────────────────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3593592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6AD55"/>
                </a:solidFill>
              </a:rPr>
              <a:t>per seat:  CL += 5 + distress×40 + HR_over×1.5  (cap 40)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3781044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── Road quality (IMU) ──────────────────────────────────────────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3968496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2E8F0"/>
                </a:solidFill>
              </a:rPr>
              <a:t>if pothole: CL += 18    if rough: CL += 8   if ahead&lt;80m: +5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155948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── Vision (Qwen + MediaPipe + YOLOv8n) ─────────────────────────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4343400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2E8F0"/>
                </a:solidFill>
              </a:rPr>
              <a:t>if drowsy: CL += 15   if loose_object: CL += 6–10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4530852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── Visibility / speed ──────────────────────────────────────────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4718304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2E8F0"/>
                </a:solidFill>
              </a:rPr>
              <a:t>if vis=low: CL += 12    if speed&gt;100: CL += 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4905756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B0"/>
                </a:solidFill>
              </a:rPr>
              <a:t>return min(100, CL)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03720" y="1325880"/>
            <a:ext cx="4983480" cy="2331720"/>
          </a:xfrm>
          <a:prstGeom prst="rect">
            <a:avLst/>
          </a:prstGeom>
          <a:solidFill>
            <a:srgbClr val="111827"/>
          </a:solidFill>
          <a:ln w="1270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14173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99AA"/>
                </a:solidFill>
              </a:rPr>
              <a:t>SCORE BANDS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171907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B0"/>
                </a:solidFill>
              </a:rPr>
              <a:t>0–25   Low · Nominal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1746504"/>
            <a:ext cx="2286000" cy="128016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1746504"/>
            <a:ext cx="571500" cy="128016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217627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6AD55"/>
                </a:solidFill>
              </a:rPr>
              <a:t>26–55  Medium · Monitor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2203703"/>
            <a:ext cx="2286000" cy="128016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35440" y="2203703"/>
            <a:ext cx="1257300" cy="128016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0" y="263347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</a:rPr>
              <a:t>56–80  High · Advisory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2660903"/>
            <a:ext cx="2286000" cy="128016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35440" y="2660903"/>
            <a:ext cx="1828800" cy="12801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309067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C8181"/>
                </a:solidFill>
              </a:rPr>
              <a:t>81–100 Critical · Alert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3118103"/>
            <a:ext cx="2286000" cy="128016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5440" y="3118103"/>
            <a:ext cx="2286000" cy="128016"/>
          </a:xfrm>
          <a:prstGeom prst="rect">
            <a:avLst/>
          </a:prstGeom>
          <a:solidFill>
            <a:srgbClr val="FC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03720" y="3794760"/>
            <a:ext cx="4983480" cy="26060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3904488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B0"/>
                </a:solidFill>
              </a:rPr>
              <a:t>KEY DESIGN CHOICES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142232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</a:rPr>
              <a:t>→  Rule-based → full transparency, auditable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4352544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</a:rPr>
              <a:t>→  world.seats read directly → zero radar lag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4562856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</a:rPr>
              <a:t>→  HR deduplication across radar + world seats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773168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</a:rPr>
              <a:t>→  Additive → drop-in ML scorer via same interface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498348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</a:rPr>
              <a:t>→  Each factor independently traceable in HMI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5193792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</a:rPr>
              <a:t>→  Runs at 10 Hz, measured latency &lt;1 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B0"/>
                </a:solidFill>
              </a:rPr>
              <a:t>FUSION ENGINE ·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</a:rPr>
              <a:t>Confirm-First · Non-Intrusive · Rule-Driven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B0"/>
                </a:solidFill>
              </a:rPr>
              <a:t>ADVISORY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00200"/>
            <a:ext cx="5577840" cy="594360"/>
          </a:xfrm>
          <a:prstGeom prst="rect">
            <a:avLst/>
          </a:prstGeom>
          <a:solidFill>
            <a:srgbClr val="00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00200"/>
            <a:ext cx="36576" cy="594360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6459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Soothe Cabin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74519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Crying/animal + child/pet seat → lower volume 30%, warm AC +1°C, soft lighting.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58568"/>
            <a:ext cx="5577840" cy="594360"/>
          </a:xfrm>
          <a:prstGeom prst="rect">
            <a:avLst/>
          </a:prstGeom>
          <a:solidFill>
            <a:srgbClr val="00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258568"/>
            <a:ext cx="36576" cy="594360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304287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Calming Persona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532887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Driver HR &gt;95 or stressed → calm playlist, cool blue lighting, temp −1°C.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916935"/>
            <a:ext cx="5577840" cy="594360"/>
          </a:xfrm>
          <a:prstGeom prst="rect">
            <a:avLst/>
          </a:prstGeom>
          <a:solidFill>
            <a:srgbClr val="00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916935"/>
            <a:ext cx="36576" cy="594360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962655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Alertness 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191255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Driver HR &lt;60 or tired → upbeat playlist, bright lighting, fresh-air burst.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575303"/>
            <a:ext cx="5577840" cy="594360"/>
          </a:xfrm>
          <a:prstGeom prst="rect">
            <a:avLst/>
          </a:prstGeom>
          <a:solidFill>
            <a:srgbClr val="00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575303"/>
            <a:ext cx="36576" cy="594360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621023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Unsecured Item on Seat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849623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Qwen detects object → advisory to stow before sudden braking.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233671"/>
            <a:ext cx="5577840" cy="594360"/>
          </a:xfrm>
          <a:prstGeom prst="rect">
            <a:avLst/>
          </a:prstGeom>
          <a:solidFill>
            <a:srgbClr val="00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233671"/>
            <a:ext cx="36576" cy="594360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4279391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Cabin Monitoring Active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4507991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Child/pet detected, no audio → radar vitals confirmed, adjustable.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137160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6AD55"/>
                </a:solidFill>
              </a:rPr>
              <a:t>WARNING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600200"/>
            <a:ext cx="5715000" cy="594360"/>
          </a:xfrm>
          <a:prstGeom prst="rect">
            <a:avLst/>
          </a:prstGeom>
          <a:solidFill>
            <a:srgbClr val="1A1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1600200"/>
            <a:ext cx="36576" cy="594360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1928" y="164592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Seatbelt Not Engaged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1928" y="1874519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Seat occupied but buckled=false → chime + visual. Fires immediately on configure.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2258568"/>
            <a:ext cx="5715000" cy="594360"/>
          </a:xfrm>
          <a:prstGeom prst="rect">
            <a:avLst/>
          </a:prstGeom>
          <a:solidFill>
            <a:srgbClr val="1A1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2258568"/>
            <a:ext cx="36576" cy="594360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2304287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Secure Before Road Hazard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2532887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Loose object + pothole &lt;120 m → urgent secure advisory before impact.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2916935"/>
            <a:ext cx="5715000" cy="594360"/>
          </a:xfrm>
          <a:prstGeom prst="rect">
            <a:avLst/>
          </a:prstGeom>
          <a:solidFill>
            <a:srgbClr val="1A1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2916935"/>
            <a:ext cx="36576" cy="594360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2962655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Child / Pet HR Alert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3191255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Child HR &gt;115 (pet &gt;125) → warning. &gt;threshold+20 → critical.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3575303"/>
            <a:ext cx="5715000" cy="594360"/>
          </a:xfrm>
          <a:prstGeom prst="rect">
            <a:avLst/>
          </a:prstGeom>
          <a:solidFill>
            <a:srgbClr val="1A1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3575303"/>
            <a:ext cx="36576" cy="594360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81928" y="3621023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Passenger Distress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1928" y="3849623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Shouting detected → check passenger, consider pulling over.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4279391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C8181"/>
                </a:solidFill>
              </a:rPr>
              <a:t>CRITICAL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4507991"/>
            <a:ext cx="5715000" cy="594360"/>
          </a:xfrm>
          <a:prstGeom prst="rect">
            <a:avLst/>
          </a:prstGeom>
          <a:solidFill>
            <a:srgbClr val="1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4507991"/>
            <a:ext cx="36576" cy="594360"/>
          </a:xfrm>
          <a:prstGeom prst="rect">
            <a:avLst/>
          </a:prstGeom>
          <a:solidFill>
            <a:srgbClr val="FC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81928" y="4553711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8181"/>
                </a:solidFill>
              </a:rPr>
              <a:t>CHILD PRESENCE ALERT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81928" y="4782311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Child in rear, no driver → horn + lights + notification. No confirm required.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6291072"/>
            <a:ext cx="11640312" cy="347472"/>
          </a:xfrm>
          <a:prstGeom prst="rect">
            <a:avLst/>
          </a:prstGeom>
          <a:solidFill>
            <a:srgbClr val="00120E"/>
          </a:solidFill>
          <a:ln w="12700">
            <a:solidFill>
              <a:srgbClr val="00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345936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⚡  Grace Period 6s — confirmed/dismissed mitigations retained 6s after condition clears, preventing flicker from momentary sensor noise.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B0"/>
                </a:solidFill>
              </a:rPr>
              <a:t>SENSING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2E8F0"/>
                </a:solidFill>
              </a:rPr>
              <a:t>Four Modalities · Privacy-Preserving · Graceful Degrade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2880360" cy="51663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481328"/>
            <a:ext cx="26974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B0"/>
                </a:solidFill>
              </a:rPr>
              <a:t>📡  RADAR (MMWAVE)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71907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4-seat occupancy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92938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Contactless HR via Doppler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1396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Respiration rate (rpm)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35000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Micro-motion / agitation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56032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Child-left-behind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7706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Ref HW: TI IWR6843 / AWR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39" y="1371600"/>
            <a:ext cx="2880360" cy="51663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8999" y="1481328"/>
            <a:ext cx="26974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6AD55"/>
                </a:solidFill>
              </a:rPr>
              <a:t>🎙️  AUDIO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8999" y="171907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BabyNet CNN — mel-spec, ~10ms GPU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8999" y="192938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Classes: none/crying/talking/happy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8999" y="21396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≥0.60 conf → fast-path bypass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8999" y="235000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AST fallback — 527-class AudioSet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8999" y="256032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Detects: crying, barking, rattle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8999" y="27706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Conf threshold: 0.25 (bus topic)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1371600"/>
            <a:ext cx="2880360" cy="51663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481328"/>
            <a:ext cx="26974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B3ED"/>
                </a:solidFill>
              </a:rPr>
              <a:t>📷  VISION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71907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Qwen2-VL-2B — per-seat 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92938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kind + emotion + buckled + objects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1396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MediaPipe — EAR drowsiness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35000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YOLOv8n — loose COCO objects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56032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Priority: Qwen &gt; MediaPipe &gt; YOLO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7706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Vision override guard on manual kinds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1371600"/>
            <a:ext cx="2880360" cy="51663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64040" y="1481328"/>
            <a:ext cx="26974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📳  IMU + VEHICLE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171907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Road quality: smooth/rough/pothole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192938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Pothole-ahead distance (m)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21396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Speed (km/h) from CAN bus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235000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Visibility: good/low/fog/rain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256032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Pre-emptive object-securing trigger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4040" y="27706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Corroborates audio / radar events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6473952"/>
            <a:ext cx="11640312" cy="256032"/>
          </a:xfrm>
          <a:prstGeom prst="rect">
            <a:avLst/>
          </a:prstGeom>
          <a:solidFill>
            <a:srgbClr val="111827"/>
          </a:solidFill>
          <a:ln w="1270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10528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Sensor priority chain:  Radar occupancy → World state override → Qwen vision → MediaPipe  |  BabyNet fast-path → AST fallback  |  All nodes publish independently — fusion never blocked.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B0"/>
                </a:solidFill>
              </a:rPr>
              <a:t>AI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</a:rPr>
              <a:t>On-Device · No Cloud · Packaged in models/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25880"/>
            <a:ext cx="3657600" cy="2377440"/>
          </a:xfrm>
          <a:prstGeom prst="rect">
            <a:avLst/>
          </a:prstGeom>
          <a:solidFill>
            <a:srgbClr val="111827"/>
          </a:solidFill>
          <a:ln w="1270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4173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B3ED"/>
                </a:solidFill>
              </a:rPr>
              <a:t>Qwen2-VL-2B-Instruct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67335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B0"/>
                </a:solidFill>
              </a:rPr>
              <a:t>Qwen/Qwen2-VL-2B-Instruct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892807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Vision-language model analyzing each camera frame. Returns structured JSON per seat: occupant kind, emotion, buckled state, and loose objects list.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79" y="2880360"/>
            <a:ext cx="822960" cy="201168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" y="2907791"/>
            <a:ext cx="749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4-bit NF4 quant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9304" y="2880360"/>
            <a:ext cx="822960" cy="201168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907791"/>
            <a:ext cx="749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~2.5 GB VRAM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7128" y="2880360"/>
            <a:ext cx="822960" cy="201168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03704" y="2907791"/>
            <a:ext cx="749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100–150 ms/frame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4952" y="2880360"/>
            <a:ext cx="822960" cy="201168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1528" y="2907791"/>
            <a:ext cx="749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RTX 3080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325880"/>
            <a:ext cx="3657600" cy="23774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4173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B0"/>
                </a:solidFill>
              </a:rPr>
              <a:t>BabyNet CNN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67335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B0"/>
                </a:solidFill>
              </a:rPr>
              <a:t>models/baby_net.pt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892807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Custom mel-spectrogram CNN trained on baby audio samples. Fast-path classifier. Falls back to AST when confidence &lt; 0.60.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880360"/>
            <a:ext cx="822960" cy="201168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2907791"/>
            <a:ext cx="749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Custom trained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75504" y="2880360"/>
            <a:ext cx="822960" cy="201168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2907791"/>
            <a:ext cx="749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~458 KB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3328" y="2880360"/>
            <a:ext cx="822960" cy="201168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9904" y="2907791"/>
            <a:ext cx="749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~10 ms GPU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31152" y="2880360"/>
            <a:ext cx="822960" cy="201168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67728" y="2907791"/>
            <a:ext cx="749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4 classes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1325880"/>
            <a:ext cx="3657600" cy="2377440"/>
          </a:xfrm>
          <a:prstGeom prst="rect">
            <a:avLst/>
          </a:prstGeom>
          <a:solidFill>
            <a:srgbClr val="111827"/>
          </a:solidFill>
          <a:ln w="12700"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14173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6AD55"/>
                </a:solidFill>
              </a:rPr>
              <a:t>AST — AudioSet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167335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B0"/>
                </a:solidFill>
              </a:rPr>
              <a:t>MIT/ast-finetuned-audioset-10-10-0.4593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1892807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Audio Spectrogram Transformer fine-tuned on 527-class AudioSet. AST fallback for BabyNet low-confidence. Detects crying, barking, rattle, speech.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80" y="2880360"/>
            <a:ext cx="822960" cy="201168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0456" y="2907791"/>
            <a:ext cx="749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527 AudioSet classes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61704" y="2880360"/>
            <a:ext cx="822960" cy="201168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98280" y="2907791"/>
            <a:ext cx="749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~330 MB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39528" y="2880360"/>
            <a:ext cx="822960" cy="201168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76104" y="2907791"/>
            <a:ext cx="749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thresh 0.15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817352" y="2880360"/>
            <a:ext cx="822960" cy="201168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53928" y="2907791"/>
            <a:ext cx="749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CPU inference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931920"/>
            <a:ext cx="3657600" cy="2377440"/>
          </a:xfrm>
          <a:prstGeom prst="rect">
            <a:avLst/>
          </a:prstGeom>
          <a:solidFill>
            <a:srgbClr val="111827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79" y="4023359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MediaPipe FaceLandmarker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79" y="427939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B0"/>
                </a:solidFill>
              </a:rPr>
              <a:t>models/face_landmarker.task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79" y="4498848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478 facial landmarks → EAR drowsiness + heuristic emotion from mouth/eye geometry. Runs as fallback when Qwen is absent.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79" y="5486400"/>
            <a:ext cx="822960" cy="201168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5" y="5513831"/>
            <a:ext cx="749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float16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89304" y="5486400"/>
            <a:ext cx="822960" cy="201168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25880" y="5513831"/>
            <a:ext cx="749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3.6 MB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67128" y="5486400"/>
            <a:ext cx="822960" cy="201168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03704" y="5513831"/>
            <a:ext cx="749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EAR thresh 0.20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44952" y="5486400"/>
            <a:ext cx="822960" cy="201168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81528" y="5513831"/>
            <a:ext cx="749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Real-time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60520" y="3931920"/>
            <a:ext cx="3657600" cy="2377440"/>
          </a:xfrm>
          <a:prstGeom prst="rect">
            <a:avLst/>
          </a:prstGeom>
          <a:solidFill>
            <a:srgbClr val="111827"/>
          </a:solidFill>
          <a:ln w="12700">
            <a:solidFill>
              <a:srgbClr val="FC8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97680" y="4023359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C8181"/>
                </a:solidFill>
              </a:rPr>
              <a:t>YOLOv8n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97680" y="427939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B0"/>
                </a:solidFill>
              </a:rPr>
              <a:t>models/yolov8n.pt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97680" y="4498848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Nano YOLO for fast object detection. Identifies loose objects in cabin (bag, bottle, laptop). Triggers secure-object pothole advisory.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97680" y="5486400"/>
            <a:ext cx="822960" cy="201168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34256" y="5513831"/>
            <a:ext cx="749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COCO 80 classes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75504" y="5486400"/>
            <a:ext cx="822960" cy="201168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12080" y="5513831"/>
            <a:ext cx="749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6.3 MB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53328" y="5486400"/>
            <a:ext cx="822960" cy="201168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89904" y="5513831"/>
            <a:ext cx="749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~10 ms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31152" y="5486400"/>
            <a:ext cx="822960" cy="201168"/>
          </a:xfrm>
          <a:prstGeom prst="rect">
            <a:avLst/>
          </a:prstGeom>
          <a:solidFill>
            <a:srgbClr val="1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67728" y="5513831"/>
            <a:ext cx="749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conf 0.35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46720" y="3931920"/>
            <a:ext cx="3886200" cy="2377440"/>
          </a:xfrm>
          <a:prstGeom prst="rect">
            <a:avLst/>
          </a:prstGeom>
          <a:solidFill>
            <a:srgbClr val="00120E"/>
          </a:solidFill>
          <a:ln w="12700">
            <a:solidFill>
              <a:srgbClr val="00D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83879" y="40233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B0"/>
                </a:solidFill>
              </a:rPr>
              <a:t>MODEL STRATEGY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83879" y="42793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→  All 5 models packaged in models/ — fully offline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83879" y="46177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→  Qwen overrides MediaPipe/YOLO when available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83879" y="49560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→  BabyNet fast-path → AST cascade on low confidence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83879" y="529437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→  Vision override guard — manual seat config protected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83879" y="563270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→  download_models.py for one-shot packaging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B0"/>
                </a:solidFill>
              </a:rPr>
              <a:t>DEMO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</a:rPr>
              <a:t>7 Scripted Situations · All Verified End-to-End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" y="1371600"/>
            <a:ext cx="11658600" cy="329184"/>
          </a:xfrm>
          <a:prstGeom prst="rect">
            <a:avLst/>
          </a:prstGeom>
          <a:solidFill>
            <a:srgbClr val="00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42646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99AA"/>
                </a:solidFill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99AA"/>
                </a:solidFill>
              </a:rPr>
              <a:t>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4264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99AA"/>
                </a:solidFill>
              </a:rPr>
              <a:t>Sensors Triggered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4264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99AA"/>
                </a:solidFill>
              </a:rPr>
              <a:t>CL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42646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99AA"/>
                </a:solidFill>
              </a:rPr>
              <a:t>Mitigation Fired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700784"/>
            <a:ext cx="11658600" cy="5486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755648"/>
            <a:ext cx="457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55648"/>
            <a:ext cx="16459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E8F0"/>
                </a:solidFill>
              </a:rPr>
              <a:t>Idle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1755648"/>
            <a:ext cx="3200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All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755648"/>
            <a:ext cx="1371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B0"/>
                </a:solidFill>
              </a:rPr>
              <a:t>~5  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755648"/>
            <a:ext cx="3383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None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2249424"/>
            <a:ext cx="11658600" cy="548640"/>
          </a:xfrm>
          <a:prstGeom prst="rect">
            <a:avLst/>
          </a:prstGeom>
          <a:solidFill>
            <a:srgbClr val="0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304288"/>
            <a:ext cx="457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304288"/>
            <a:ext cx="16459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E8F0"/>
                </a:solidFill>
              </a:rPr>
              <a:t>Baby Crying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304288"/>
            <a:ext cx="3200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Audio (crying) + Radar (child seat)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2304288"/>
            <a:ext cx="1371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6AD55"/>
                </a:solidFill>
              </a:rPr>
              <a:t>~35  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304288"/>
            <a:ext cx="3383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Soothe Cabin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2798064"/>
            <a:ext cx="11658600" cy="5486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2852928"/>
            <a:ext cx="457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2852928"/>
            <a:ext cx="16459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E8F0"/>
                </a:solidFill>
              </a:rPr>
              <a:t>Driver Stress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2852928"/>
            <a:ext cx="3200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Radar (HR↑, RESP↑) + Vision (emotion)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2852928"/>
            <a:ext cx="1371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6AD55"/>
                </a:solidFill>
              </a:rPr>
              <a:t>~42  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852928"/>
            <a:ext cx="3383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Calming Persona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3346704"/>
            <a:ext cx="11658600" cy="548640"/>
          </a:xfrm>
          <a:prstGeom prst="rect">
            <a:avLst/>
          </a:prstGeom>
          <a:solidFill>
            <a:srgbClr val="0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3401568"/>
            <a:ext cx="457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401568"/>
            <a:ext cx="16459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E8F0"/>
                </a:solidFill>
              </a:rPr>
              <a:t>Pothole Ahead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3401568"/>
            <a:ext cx="3200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IMU (pothole_ahead_m) + Object on seat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0" y="3401568"/>
            <a:ext cx="1371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97316"/>
                </a:solidFill>
              </a:rPr>
              <a:t>~58  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3401568"/>
            <a:ext cx="3383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Secure Before Road Hazard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3895344"/>
            <a:ext cx="11658600" cy="5486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3950207"/>
            <a:ext cx="457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3950207"/>
            <a:ext cx="16459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E8F0"/>
                </a:solidFill>
              </a:rPr>
              <a:t>Seatbelt Off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3950207"/>
            <a:ext cx="3200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World state (buckled=false)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0" y="3950207"/>
            <a:ext cx="1371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6AD55"/>
                </a:solidFill>
              </a:rPr>
              <a:t>+12  Medium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3950207"/>
            <a:ext cx="3383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Seatbelt Not Engaged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" y="4443983"/>
            <a:ext cx="11658600" cy="548640"/>
          </a:xfrm>
          <a:prstGeom prst="rect">
            <a:avLst/>
          </a:prstGeom>
          <a:solidFill>
            <a:srgbClr val="0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4498847"/>
            <a:ext cx="457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498847"/>
            <a:ext cx="16459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E8F0"/>
                </a:solidFill>
              </a:rPr>
              <a:t>Child Left Behind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68880" y="4498847"/>
            <a:ext cx="3200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Radar (child rear, no driver)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0" y="4498847"/>
            <a:ext cx="1371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C8181"/>
                </a:solidFill>
              </a:rPr>
              <a:t>~70  Critical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4498847"/>
            <a:ext cx="3383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CHILD PRESENCE ALERT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" y="4992623"/>
            <a:ext cx="11658600" cy="5486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5047487"/>
            <a:ext cx="457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047487"/>
            <a:ext cx="16459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E8F0"/>
                </a:solidFill>
              </a:rPr>
              <a:t>Night Drive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68880" y="5047487"/>
            <a:ext cx="3200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Vehicle (low visibility + speed &gt;100)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15000" y="5047487"/>
            <a:ext cx="1371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97316"/>
                </a:solidFill>
              </a:rPr>
              <a:t>~65  High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5047487"/>
            <a:ext cx="3383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Alertness Boost + Visibility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614415"/>
            <a:ext cx="11640312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669279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</a:rPr>
              <a:t>Confirm-First on all advisories  |  Immediate on safety-critical (seatbelt, child-left)  |  6s grace period on dismiss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B0"/>
                </a:solidFill>
              </a:rPr>
              <a:t>TECHNICAL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</a:rPr>
              <a:t>Backend · Frontend · Communication ·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" y="1325880"/>
            <a:ext cx="5687568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1435607"/>
            <a:ext cx="55046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B0"/>
                </a:solidFill>
              </a:rPr>
              <a:t>BACKEND — PYTHON 3.11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1673352"/>
            <a:ext cx="5458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FastAPI + uvicorn — WebSocket /ws + 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883664"/>
            <a:ext cx="5458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bus.py — async pub/sub, bounded queue, &lt;1ms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2093976"/>
            <a:ext cx="5458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world.py — shared ground-truth cabin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2304288"/>
            <a:ext cx="5458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fusion.py — 10Hz loop, rule-based scorer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514600"/>
            <a:ext cx="5458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sensors/ — 6 independent async nodes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724912"/>
            <a:ext cx="5458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scenarios.py — scripted demo world mutations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1325880"/>
            <a:ext cx="5687568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1435607"/>
            <a:ext cx="55046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B3ED"/>
                </a:solidFill>
              </a:rPr>
              <a:t>FRONTEND — REACT 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1673352"/>
            <a:ext cx="5458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CDN-free local libs (Babel 7.12.17 pinned)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883664"/>
            <a:ext cx="5458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SensorView: Video, Audio, Radar, IMU, Seat widgets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2093976"/>
            <a:ext cx="5458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InfotainmentView: Gauge, Mitigation cards, Scenarios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2304288"/>
            <a:ext cx="5458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TimelineBar: Manual / Live A/V / Scenario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2514600"/>
            <a:ext cx="5458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RadarWidget: kind selector + HR sliders per seat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2724912"/>
            <a:ext cx="5458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No polling — WebSocket push at 10Hz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3977639"/>
            <a:ext cx="5687568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4087368"/>
            <a:ext cx="55046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6AD55"/>
                </a:solidFill>
              </a:rPr>
              <a:t>COMMUNICATION PROTOCOL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" y="4325112"/>
            <a:ext cx="5458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WebSocket /ws — bidirectional 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" y="4535424"/>
            <a:ext cx="5458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FE→BE: audio_chunk, vision_frame, configure_seat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" y="4745736"/>
            <a:ext cx="5458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FE→BE: scenario, confirm, dismiss commands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" y="4956048"/>
            <a:ext cx="5458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BE→FE: full fused state per tick (10Hz)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" y="5166360"/>
            <a:ext cx="5458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audio_chunk: Float32 array, 0.96s @ 16kHz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" y="5376672"/>
            <a:ext cx="5458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vision_frame: base64 JPEG from webcam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8" y="3977639"/>
            <a:ext cx="5687568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8" y="4087368"/>
            <a:ext cx="55046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KEY INVARIANTS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1928" y="4325112"/>
            <a:ext cx="5458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Sensor nodes never block — each has its own Hz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4535424"/>
            <a:ext cx="5458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Swap node body only to go to real hardware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4745736"/>
            <a:ext cx="5458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ML scorer can replace rule engine, same interface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4956048"/>
            <a:ext cx="5458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Fusion reads world.seats directly — no stale radar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5166360"/>
            <a:ext cx="5458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HR deduplication across world + radar sources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5376672"/>
            <a:ext cx="5458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Grace period prevents flicker on sensor noise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B0"/>
                </a:solidFill>
              </a:rPr>
              <a:t>INNOVATION &amp;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</a:rPr>
              <a:t>Why CabinSense Wins on Every Dimension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" y="1325880"/>
            <a:ext cx="3675887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1435607"/>
            <a:ext cx="3493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B0"/>
                </a:solidFill>
              </a:rPr>
              <a:t>🎯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1673352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Radar contactless vitals as cognitive-load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883664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One fusion engine for all 5 use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2093976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Pre-emptive object-securing before pothole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2304288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Qwen2-VL per-seat: kind + emotion + objects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514600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Custom BabyNet CNN fast-path classifier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325880"/>
            <a:ext cx="3675887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435607"/>
            <a:ext cx="3493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B3ED"/>
                </a:solidFill>
              </a:rPr>
              <a:t>🧑‍✈️ DRIVER-CENTRIC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673352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Confirm-first on every mitigation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883664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6s grace period — no flicker from noise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093976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Mode system clearly shown in HMI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304288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Safety-critical bypasses confirm immediately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514600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Optimistic UI — instant feedback on config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8" y="1325880"/>
            <a:ext cx="3675887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1435607"/>
            <a:ext cx="3493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6AD55"/>
                </a:solidFill>
              </a:rPr>
              <a:t>✅ FEASIBILITY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1673352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Reuses existing / near-term cabin sensors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1883664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SDV-aligned async bus topology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2093976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&lt;1ms fusion latency, 10Hz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2304288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Fully offline — no cloud dependency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8" y="2514600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Swap node body only for real hardware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" y="3931920"/>
            <a:ext cx="3675887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4041648"/>
            <a:ext cx="3493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C8181"/>
                </a:solidFill>
              </a:rPr>
              <a:t>🛡️ SAFETY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" y="4279392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Child / pet welfare: vitals + HR alerts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" y="4489704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Child-left-behind: immediate critical (no confirm)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" y="4700016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Seatbelt misuse: real-time, fires on configure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" y="4910328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Pre-emptive pothole + loose-object hazard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" y="5120640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Driver fatigue multimodal corroboration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20" y="3931920"/>
            <a:ext cx="3675887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0" y="4041648"/>
            <a:ext cx="3493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💼 BUSINESS VALUE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279392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Premium / EV cabin refinement differentiator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4489704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ADAS expansion into internal cabin awareness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700016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Upgradeable SDV feature via software update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4910328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Privacy-preserving radar — no GDPR concerns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5120640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One platform, 5 revenue use cases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65008" y="3931920"/>
            <a:ext cx="3675887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02168" y="4041648"/>
            <a:ext cx="3493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B0"/>
                </a:solidFill>
              </a:rPr>
              <a:t>📡 RADAR DIFFERENTIATOR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02168" y="4279392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Production-relevant: TI IWR6843 / AWR class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02168" y="4489704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Privacy-preserving: no camera for sensitive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02168" y="4700016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Only sensor giving contactless driver vitals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02168" y="4910328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Direct cognitive-load signal (HR, resp, motion)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02168" y="5120640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 Child-left detection even when camera is off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i="0">
                <a:solidFill>
                  <a:srgbClr val="00D4B0"/>
                </a:solidFill>
              </a:rPr>
              <a:t>CabinSense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99AA"/>
                </a:solidFill>
              </a:rPr>
              <a:t>The cabin is the last unmonitored space in a connected vehicle.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37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2E8F0"/>
                </a:solidFill>
              </a:rPr>
              <a:t>CabinSense closes that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0690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D4B0"/>
                </a:solidFill>
              </a:rPr>
              <a:t>&lt;1ms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7091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AA"/>
                </a:solidFill>
              </a:rPr>
              <a:t>Fusion Latency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40690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63B3ED"/>
                </a:solidFill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7091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AA"/>
                </a:solidFill>
              </a:rPr>
              <a:t>Models On-Device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0690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6AD55"/>
                </a:solidFill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7091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AA"/>
                </a:solidFill>
              </a:rPr>
              <a:t>Mitigations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40690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A78BFA"/>
                </a:solidFill>
              </a:rPr>
              <a:t>10Hz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47091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AA"/>
                </a:solidFill>
              </a:rPr>
              <a:t>Fusion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5349240"/>
            <a:ext cx="1645920" cy="292608"/>
          </a:xfrm>
          <a:prstGeom prst="rect">
            <a:avLst/>
          </a:prstGeom>
          <a:solidFill>
            <a:srgbClr val="111827"/>
          </a:solidFill>
          <a:ln w="10160">
            <a:solidFill>
              <a:srgbClr val="00D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00D4B0"/>
                </a:solidFill>
              </a:rPr>
              <a:t>Multi-Modal Fusion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5349240"/>
            <a:ext cx="1645920" cy="292608"/>
          </a:xfrm>
          <a:prstGeom prst="rect">
            <a:avLst/>
          </a:prstGeom>
          <a:solidFill>
            <a:srgbClr val="111827"/>
          </a:solidFill>
          <a:ln w="1016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63B3ED"/>
                </a:solidFill>
              </a:rPr>
              <a:t>Radar Vitals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5349240"/>
            <a:ext cx="1645920" cy="292608"/>
          </a:xfrm>
          <a:prstGeom prst="rect">
            <a:avLst/>
          </a:prstGeom>
          <a:solidFill>
            <a:srgbClr val="111827"/>
          </a:solidFill>
          <a:ln w="10160"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6AD55"/>
                </a:solidFill>
              </a:rPr>
              <a:t>Confirm-First UX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5349240"/>
            <a:ext cx="1645920" cy="292608"/>
          </a:xfrm>
          <a:prstGeom prst="rect">
            <a:avLst/>
          </a:prstGeom>
          <a:solidFill>
            <a:srgbClr val="111827"/>
          </a:solidFill>
          <a:ln w="10160">
            <a:solidFill>
              <a:srgbClr val="FC81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C8181"/>
                </a:solidFill>
              </a:rPr>
              <a:t>Child Safety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5349240"/>
            <a:ext cx="1645920" cy="292608"/>
          </a:xfrm>
          <a:prstGeom prst="rect">
            <a:avLst/>
          </a:prstGeom>
          <a:solidFill>
            <a:srgbClr val="111827"/>
          </a:solidFill>
          <a:ln w="10160">
            <a:solidFill>
              <a:srgbClr val="00D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00D4B0"/>
                </a:solidFill>
              </a:rPr>
              <a:t>Fully Offline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87000" y="5349240"/>
            <a:ext cx="1645920" cy="292608"/>
          </a:xfrm>
          <a:prstGeom prst="rect">
            <a:avLst/>
          </a:prstGeom>
          <a:solidFill>
            <a:srgbClr val="111827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A78BFA"/>
                </a:solidFill>
              </a:rPr>
              <a:t>SDV-Ready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72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99AA"/>
                </a:solidFill>
              </a:rPr>
              <a:t>github.com/PrashantKramadhari/in-cabin-hackthon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